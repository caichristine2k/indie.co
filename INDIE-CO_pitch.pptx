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0"/>
            <a:ext cx="45720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195072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32918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 i="0">
                <a:solidFill>
                  <a:srgbClr val="0A0810"/>
                </a:solidFill>
                <a:latin typeface="Georgia"/>
              </a:rPr>
              <a:t>INDIE.CO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297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02FA7"/>
                </a:solidFill>
                <a:latin typeface="Consolas"/>
              </a:rPr>
              <a:t>IP 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1206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333040"/>
                </a:solidFill>
                <a:latin typeface="Georgia"/>
              </a:rPr>
              <a:t>La télévision culturelle mondiale.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A623"/>
                </a:solidFill>
                <a:latin typeface="Consolas"/>
              </a:rPr>
              <a:t>01 — COUVERTURE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EDD8"/>
                </a:solidFill>
                <a:latin typeface="Consolas"/>
              </a:rPr>
              <a:t>Pitch deck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01 —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200" b="0">
                <a:solidFill>
                  <a:srgbClr val="0A0810"/>
                </a:solidFill>
                <a:latin typeface="Georgia"/>
              </a:rPr>
              <a:t>INDIE.CO — IP TV</a:t>
            </a:r>
          </a:p>
          <a:p>
            <a:pPr>
              <a:lnSpc>
                <a:spcPct val="105000"/>
              </a:lnSpc>
            </a:pPr>
            <a:r>
              <a:rPr sz="4200" i="1">
                <a:solidFill>
                  <a:srgbClr val="0A0810"/>
                </a:solidFill>
                <a:latin typeface="Georgia"/>
              </a:rPr>
              <a:t>La télévision culturelle mondiale.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880360"/>
            <a:ext cx="11064240" cy="0"/>
          </a:xfrm>
          <a:prstGeom prst="line">
            <a:avLst/>
          </a:prstGeom>
          <a:ln w="9525">
            <a:solidFill>
              <a:srgbClr val="D8C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LA CITATION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0A0810"/>
                </a:solidFill>
                <a:latin typeface="Georgia"/>
              </a:rPr>
              <a:t>« Il existe une télévision pour passer le temps,</a:t>
            </a:r>
          </a:p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0A0810"/>
                </a:solidFill>
                <a:latin typeface="Georgia"/>
              </a:rPr>
              <a:t>et une autre pour comprendre le temps.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040"/>
                </a:solidFill>
                <a:latin typeface="Consolas"/>
              </a:rPr>
              <a:t>— André Malraux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200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5D2F"/>
                </a:solidFill>
                <a:latin typeface="Consolas"/>
              </a:rPr>
              <a:t>LA PROBLÉMATIQUE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56616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3040"/>
                </a:solidFill>
                <a:latin typeface="Calibri"/>
              </a:rPr>
              <a:t>Le contenu étant aussi important que le flux, le zapping a remplacé le regard.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3040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3040"/>
                </a:solidFill>
                <a:latin typeface="Calibri"/>
              </a:rPr>
              <a:t>Face à la saturation des plateformes généralistes, il n'existe aucune télévision mondiale dédiée à la culture, l'art et le soft power, pensée pour l'ère d'Internet.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852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002FA7"/>
                </a:solidFill>
                <a:latin typeface="Georgia"/>
              </a:rPr>
              <a:t>INDIE.CO comble ce vide.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02 —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200" b="0">
                <a:solidFill>
                  <a:srgbClr val="0A0810"/>
                </a:solidFill>
                <a:latin typeface="Georgia"/>
              </a:rPr>
              <a:t>Revenir aux</a:t>
            </a:r>
          </a:p>
          <a:p>
            <a:pPr>
              <a:lnSpc>
                <a:spcPct val="105000"/>
              </a:lnSpc>
            </a:pPr>
            <a:r>
              <a:rPr sz="4200" i="1">
                <a:solidFill>
                  <a:srgbClr val="0A0810"/>
                </a:solidFill>
                <a:latin typeface="Georgia"/>
              </a:rPr>
              <a:t>réels contenus.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3040"/>
                </a:solidFill>
                <a:latin typeface="Calibri"/>
              </a:rPr>
              <a:t>Le numérique appliqué à l'image provoque un basculement de civilisation aussi important que celui de la galaxie Gutenberg. Ce basculement ne vaut qu'à une condition expresse : revenir aux réels contenus. C'est là que se situe toute l'ambition d'INDIE.CO — l'idée visionnaire.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TROIS CONVICTIONS FONDENT LE PROJET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262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2FA7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0A0810"/>
                </a:solidFill>
                <a:latin typeface="Georgia"/>
              </a:rPr>
              <a:t>Comprendre.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040"/>
                </a:solidFill>
                <a:latin typeface="Calibri"/>
              </a:rPr>
              <a:t>Aller plus loin que le précepte de Malraux : créer une télévision qui ne se contente pas de comprendre le temps, mais le révolutionne et le dépasse.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5262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663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2FA7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9377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0A0810"/>
                </a:solidFill>
                <a:latin typeface="Georgia"/>
              </a:rPr>
              <a:t>Rayonner.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4406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040"/>
                </a:solidFill>
                <a:latin typeface="Calibri"/>
              </a:rPr>
              <a:t>Faire de la culture un instrument de soft power : la France et l'Europe comme point de départ, le monde comme extension naturelle.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5262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663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2FA7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9377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0A0810"/>
                </a:solidFill>
                <a:latin typeface="Georgia"/>
              </a:rPr>
              <a:t>Élever.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4406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040"/>
                </a:solidFill>
                <a:latin typeface="Calibri"/>
              </a:rPr>
              <a:t>« La télévision de demain est un art et une industrie. » Le média lui-même, par sa conception et son habillage inspiré de Mark Rothko, est une forme conceptuelle d'art.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A623"/>
                </a:solidFill>
                <a:latin typeface="Consolas"/>
              </a:rPr>
              <a:t>03 —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800">
                <a:solidFill>
                  <a:srgbClr val="FFFFFF"/>
                </a:solidFill>
                <a:latin typeface="Georgia"/>
              </a:rPr>
              <a:t>Une télévision culturelle mondiale.</a:t>
            </a:r>
          </a:p>
          <a:p>
            <a:pPr>
              <a:lnSpc>
                <a:spcPct val="105000"/>
              </a:lnSpc>
            </a:pPr>
            <a:r>
              <a:rPr sz="3800" i="1">
                <a:solidFill>
                  <a:srgbClr val="FFFFFF"/>
                </a:solidFill>
                <a:latin typeface="Georgia"/>
              </a:rPr>
              <a:t>Deux façons de la vivre.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5C0B8"/>
                </a:solidFill>
                <a:latin typeface="Calibri"/>
              </a:rPr>
              <a:t>Un même catalogue, deux expériences complémentaires.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1A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73152" cy="32918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2FA7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INDIE.CO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La chaîne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D5D0C8"/>
                </a:solidFill>
                <a:latin typeface="Calibri"/>
              </a:rPr>
              <a:t>Une véritable chaîne de télévision fondée sur la VOD relinéarisée : un catalogue culturel éditorialisé, une grille pensée par une rédaction et un rendez-vous quotidien.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900" b="1">
                <a:solidFill>
                  <a:srgbClr val="002FA7"/>
                </a:solidFill>
                <a:latin typeface="Calibri"/>
              </a:rPr>
              <a:t>•  </a:t>
            </a:r>
            <a:r>
              <a:rPr sz="900">
                <a:solidFill>
                  <a:srgbClr val="C0BBB0"/>
                </a:solidFill>
                <a:latin typeface="Calibri"/>
              </a:rPr>
              <a:t>Débats, rencontres, portraits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900" b="1">
                <a:solidFill>
                  <a:srgbClr val="002FA7"/>
                </a:solidFill>
                <a:latin typeface="Calibri"/>
              </a:rPr>
              <a:t>•  </a:t>
            </a:r>
            <a:r>
              <a:rPr sz="900">
                <a:solidFill>
                  <a:srgbClr val="C0BBB0"/>
                </a:solidFill>
                <a:latin typeface="Calibri"/>
              </a:rPr>
              <a:t>Documentaires et captations de spectacle vivant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900" b="1">
                <a:solidFill>
                  <a:srgbClr val="002FA7"/>
                </a:solidFill>
                <a:latin typeface="Calibri"/>
              </a:rPr>
              <a:t>•  </a:t>
            </a:r>
            <a:r>
              <a:rPr sz="900">
                <a:solidFill>
                  <a:srgbClr val="C0BBB0"/>
                </a:solidFill>
                <a:latin typeface="Calibri"/>
              </a:rPr>
              <a:t>Cinéma d'auteur et coproductions internationales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900" b="1">
                <a:solidFill>
                  <a:srgbClr val="002FA7"/>
                </a:solidFill>
                <a:latin typeface="Calibri"/>
              </a:rPr>
              <a:t>•  </a:t>
            </a:r>
            <a:r>
              <a:rPr sz="900">
                <a:solidFill>
                  <a:srgbClr val="C0BBB0"/>
                </a:solidFill>
                <a:latin typeface="Calibri"/>
              </a:rPr>
              <a:t>Replay et catch-up intégrés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1A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383280"/>
            <a:ext cx="73152" cy="329184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520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5D2F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794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TV4U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2519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5D2F"/>
                </a:solidFill>
                <a:latin typeface="Consolas"/>
              </a:rPr>
              <a:t>Votre télévision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5720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D5D0C8"/>
                </a:solidFill>
                <a:latin typeface="Calibri"/>
              </a:rPr>
              <a:t>Une expérience personnalisée sans direction des programmes : chaque utilisateur construit sa propre télévision à partir du catalogue.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53212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900" b="1">
                <a:solidFill>
                  <a:srgbClr val="E85D2F"/>
                </a:solidFill>
                <a:latin typeface="Calibri"/>
              </a:rPr>
              <a:t>•  </a:t>
            </a:r>
            <a:r>
              <a:rPr sz="900">
                <a:solidFill>
                  <a:srgbClr val="C0BBB0"/>
                </a:solidFill>
                <a:latin typeface="Calibri"/>
              </a:rPr>
              <a:t>Playlists sur mesure (interfaces neuronales à terme)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900" b="1">
                <a:solidFill>
                  <a:srgbClr val="E85D2F"/>
                </a:solidFill>
                <a:latin typeface="Calibri"/>
              </a:rPr>
              <a:t>•  </a:t>
            </a:r>
            <a:r>
              <a:rPr sz="900">
                <a:solidFill>
                  <a:srgbClr val="C0BBB0"/>
                </a:solidFill>
                <a:latin typeface="Calibri"/>
              </a:rPr>
              <a:t>Programmes adaptés aux goûts et horaires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900" b="1">
                <a:solidFill>
                  <a:srgbClr val="E85D2F"/>
                </a:solidFill>
                <a:latin typeface="Calibri"/>
              </a:rPr>
              <a:t>•  </a:t>
            </a:r>
            <a:r>
              <a:rPr sz="900">
                <a:solidFill>
                  <a:srgbClr val="C0BBB0"/>
                </a:solidFill>
                <a:latin typeface="Calibri"/>
              </a:rPr>
              <a:t>Recommandations intelligentes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900" b="1">
                <a:solidFill>
                  <a:srgbClr val="E85D2F"/>
                </a:solidFill>
                <a:latin typeface="Calibri"/>
              </a:rPr>
              <a:t>•  </a:t>
            </a:r>
            <a:r>
              <a:rPr sz="900">
                <a:solidFill>
                  <a:srgbClr val="C0BBB0"/>
                </a:solidFill>
                <a:latin typeface="Calibri"/>
              </a:rPr>
              <a:t>Fonctions sociales pour partager et échanger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04 — LA TECHNOLOGIE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800" b="0">
                <a:solidFill>
                  <a:srgbClr val="0A0810"/>
                </a:solidFill>
                <a:latin typeface="Georgia"/>
              </a:rPr>
              <a:t>IPTV + OTT</a:t>
            </a:r>
          </a:p>
          <a:p>
            <a:pPr>
              <a:lnSpc>
                <a:spcPct val="105000"/>
              </a:lnSpc>
            </a:pPr>
            <a:r>
              <a:rPr sz="3800" i="1">
                <a:solidFill>
                  <a:srgbClr val="0A0810"/>
                </a:solidFill>
                <a:latin typeface="Georgia"/>
              </a:rPr>
              <a:t>+ Intelligence artificielle.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3040"/>
                </a:solidFill>
                <a:latin typeface="Calibri"/>
              </a:rPr>
              <a:t>Une diffusion accessible sur tous les écrans, un boîtier IP breveté relié à la box du fournisseur d'accès à Internet, et une IA au cœur de l'expérience.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727" y="3794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AE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887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810"/>
                </a:solidFill>
                <a:latin typeface="Georgia"/>
              </a:rPr>
              <a:t>Catalogue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0A0810"/>
                </a:solidFill>
                <a:latin typeface="Calibri"/>
              </a:rPr>
              <a:t>Films · docs · captations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4007" y="3794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AE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1167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810"/>
                </a:solidFill>
                <a:latin typeface="Georgia"/>
              </a:rPr>
              <a:t>Cloud INDIE.CO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1167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0A0810"/>
                </a:solidFill>
                <a:latin typeface="Calibri"/>
              </a:rPr>
              <a:t>Serveurs mondiaux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4287" y="3794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IA &amp; 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447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Profilage · Recommandation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4567" y="3794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AE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1727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810"/>
                </a:solidFill>
                <a:latin typeface="Georgia"/>
              </a:rPr>
              <a:t>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1727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0A0810"/>
                </a:solidFill>
                <a:latin typeface="Calibri"/>
              </a:rPr>
              <a:t>IPTV · OTT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4847" y="3794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AE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2007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810"/>
                </a:solidFill>
                <a:latin typeface="Georgia"/>
              </a:rPr>
              <a:t>Tous les écrans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2007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0A0810"/>
                </a:solidFill>
                <a:latin typeface="Calibri"/>
              </a:rPr>
              <a:t>TV · PC · Mobile · Tablette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L'IA AU CŒUR DE LA PERSONNALISATION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002FA7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Recommandations — moteur nourri par les préférences déclarées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002FA7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Sous-titrage multilingue — adaptation aux marchés asiatiques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002FA7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Accessibilité renforcée — système dédié aux malentendants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002FA7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Profilage éthique — profils programmes et publicitaire distincts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74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5D2F"/>
                </a:solidFill>
                <a:latin typeface="Consolas"/>
              </a:rPr>
              <a:t>LE PARCOURS OTT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39496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E85D2F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01  Créer son profil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E85D2F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02  Renseigner ses goûts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E85D2F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03  Accéder au catalogue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E85D2F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04  Composer sa grille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A623"/>
                </a:solidFill>
                <a:latin typeface="Consolas"/>
              </a:rPr>
              <a:t>05 — LE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0">
                <a:solidFill>
                  <a:srgbClr val="0A0810"/>
                </a:solidFill>
                <a:latin typeface="Georgia"/>
              </a:rPr>
              <a:t>Une télévision culturelle.</a:t>
            </a:r>
          </a:p>
          <a:p>
            <a:pPr>
              <a:lnSpc>
                <a:spcPct val="105000"/>
              </a:lnSpc>
            </a:pPr>
            <a:r>
              <a:rPr sz="3600" i="1">
                <a:solidFill>
                  <a:srgbClr val="0A0810"/>
                </a:solidFill>
                <a:latin typeface="Georgia"/>
              </a:rPr>
              <a:t>Un softpower assumé.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040"/>
                </a:solidFill>
                <a:latin typeface="Calibri"/>
              </a:rPr>
              <a:t>Coproductions internationales, productions propres (captations musicales, théâtrales, chorégraphiques), catalogue de films acquis ou du domaine public, contributions d'internautes créatifs révélées par des concours.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LE PARCOURS UTILISATEUR, EN CINQ ÉTAPES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6052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810"/>
                </a:solidFill>
                <a:latin typeface="Georgia"/>
              </a:rPr>
              <a:t>Plateforme mondiale INDIE.CO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416052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810"/>
                </a:solidFill>
                <a:latin typeface="Georgia"/>
              </a:rPr>
              <a:t>Profil et préférences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16052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810"/>
                </a:solidFill>
                <a:latin typeface="Georgia"/>
              </a:rPr>
              <a:t>Personnalisation 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16052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810"/>
                </a:solidFill>
                <a:latin typeface="Georgia"/>
              </a:rPr>
              <a:t>Chaîne ou sélection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416052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810"/>
                </a:solidFill>
                <a:latin typeface="Georgia"/>
              </a:rPr>
              <a:t>TV · Mobile · Web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12080"/>
            <a:ext cx="1042415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39512"/>
            <a:ext cx="1042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Littérature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82495" y="5212080"/>
            <a:ext cx="384048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82495" y="52395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Art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57983" y="5212080"/>
            <a:ext cx="630936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57983" y="5239512"/>
            <a:ext cx="630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Cinéma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59" y="5212080"/>
            <a:ext cx="713232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59" y="523951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Musique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85031" y="5212080"/>
            <a:ext cx="1289304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5031" y="5239512"/>
            <a:ext cx="1289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Bande dessinée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65775" y="5212080"/>
            <a:ext cx="795528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65775" y="5239512"/>
            <a:ext cx="795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Histoire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52743" y="5212080"/>
            <a:ext cx="960119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52743" y="5239512"/>
            <a:ext cx="960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Géographie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04302" y="5212080"/>
            <a:ext cx="795528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04302" y="5239512"/>
            <a:ext cx="795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Économie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91270" y="5212080"/>
            <a:ext cx="713232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91270" y="523951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Société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95942" y="5212080"/>
            <a:ext cx="1124712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2" y="5239512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Psychanalyse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12094" y="5212080"/>
            <a:ext cx="1124712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12094" y="5239512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Linguistique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623560"/>
            <a:ext cx="960119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650992"/>
            <a:ext cx="960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Ethnologie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00199" y="5623560"/>
            <a:ext cx="877824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199" y="565099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Éthologie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9463" y="5623560"/>
            <a:ext cx="1207007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9463" y="5650992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Spiritualités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67910" y="5623560"/>
            <a:ext cx="795528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67910" y="5650992"/>
            <a:ext cx="795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Médecine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78" y="5623560"/>
            <a:ext cx="1536192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78" y="5650992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Agriculture &amp; vin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82510" y="5623560"/>
            <a:ext cx="548640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2510" y="56509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Sport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5D2F"/>
                </a:solidFill>
                <a:latin typeface="Consolas"/>
              </a:rPr>
              <a:t>SOFTPOWER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0810"/>
                </a:solidFill>
                <a:latin typeface="Consolas"/>
              </a:rPr>
              <a:t>France  →  Europe  →  Amériques  →  Asie  →  Monde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06 — LE MODÈLE ÉCONOMIQUE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>
                <a:solidFill>
                  <a:srgbClr val="0A0810"/>
                </a:solidFill>
                <a:latin typeface="Georgia"/>
              </a:rPr>
              <a:t>Un modèle hybride.</a:t>
            </a:r>
          </a:p>
          <a:p>
            <a:pPr>
              <a:lnSpc>
                <a:spcPct val="105000"/>
              </a:lnSpc>
            </a:pPr>
            <a:r>
              <a:rPr sz="3000" i="1">
                <a:solidFill>
                  <a:srgbClr val="0A0810"/>
                </a:solidFill>
                <a:latin typeface="Georgia"/>
              </a:rPr>
              <a:t>La publicité finance la gratuité,</a:t>
            </a:r>
          </a:p>
          <a:p>
            <a:pPr>
              <a:lnSpc>
                <a:spcPct val="105000"/>
              </a:lnSpc>
            </a:pPr>
            <a:r>
              <a:rPr sz="3000" i="1">
                <a:solidFill>
                  <a:srgbClr val="0A0810"/>
                </a:solidFill>
                <a:latin typeface="Georgia"/>
              </a:rPr>
              <a:t>l'abonnement achète la liberté.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3040"/>
                </a:solidFill>
                <a:latin typeface="Calibri"/>
              </a:rPr>
              <a:t>Principe fondateur : publicité complète = gratuité ; sans publicité = abonnement. Avec tous les mix intermédiaires possibles.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5D2F"/>
                </a:solidFill>
                <a:latin typeface="Consolas"/>
              </a:rPr>
              <a:t>GRATUIT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A0810"/>
                </a:solidFill>
                <a:latin typeface="Georgia"/>
              </a:rPr>
              <a:t>Avec publicité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02FA7"/>
                </a:solidFill>
                <a:latin typeface="Georgia"/>
              </a:rPr>
              <a:t>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1000" b="1">
                <a:solidFill>
                  <a:srgbClr val="E85D2F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Accès au catalogue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1000" b="1">
                <a:solidFill>
                  <a:srgbClr val="E85D2F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Publicité ciblée et éthique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1000" b="1">
                <a:solidFill>
                  <a:srgbClr val="E85D2F"/>
                </a:solidFill>
                <a:latin typeface="Calibri"/>
              </a:rPr>
              <a:t>•  </a:t>
            </a:r>
            <a:r>
              <a:rPr sz="1000">
                <a:solidFill>
                  <a:srgbClr val="333040"/>
                </a:solidFill>
                <a:latin typeface="Calibri"/>
              </a:rPr>
              <a:t>Recommandations personnalisées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5720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0" i="0">
                <a:solidFill>
                  <a:srgbClr val="D8CEB4"/>
                </a:solidFill>
                <a:latin typeface="Georgia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79476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931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5A623"/>
                </a:solidFill>
                <a:latin typeface="Consolas"/>
              </a:rPr>
              <a:t>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Georgia"/>
              </a:rPr>
              <a:t>Sans publicité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6177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Georgia"/>
              </a:rPr>
              <a:t>15 €/mois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534924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1000" b="1">
                <a:solidFill>
                  <a:srgbClr val="F5A623"/>
                </a:solidFill>
                <a:latin typeface="Calibri"/>
              </a:rPr>
              <a:t>•  </a:t>
            </a:r>
            <a:r>
              <a:rPr sz="1000">
                <a:solidFill>
                  <a:srgbClr val="FFFFFF"/>
                </a:solidFill>
                <a:latin typeface="Calibri"/>
              </a:rPr>
              <a:t>Aucune publicité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1000" b="1">
                <a:solidFill>
                  <a:srgbClr val="F5A623"/>
                </a:solidFill>
                <a:latin typeface="Calibri"/>
              </a:rPr>
              <a:t>•  </a:t>
            </a:r>
            <a:r>
              <a:rPr sz="1000">
                <a:solidFill>
                  <a:srgbClr val="FFFFFF"/>
                </a:solidFill>
                <a:latin typeface="Calibri"/>
              </a:rPr>
              <a:t>Accès intégral au catalogue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1000" b="1">
                <a:solidFill>
                  <a:srgbClr val="F5A623"/>
                </a:solidFill>
                <a:latin typeface="Calibri"/>
              </a:rPr>
              <a:t>•  </a:t>
            </a:r>
            <a:r>
              <a:rPr sz="1000">
                <a:solidFill>
                  <a:srgbClr val="FFFFFF"/>
                </a:solidFill>
                <a:latin typeface="Calibri"/>
              </a:rPr>
              <a:t>Fonctions sociales avancées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33040"/>
                </a:solidFill>
                <a:latin typeface="Calibri"/>
              </a:rPr>
              <a:t>Grâce au boîtier IP, chaque point d'audience génère un retour économique mesurable, comme en TV classique.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07 —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200" b="0">
                <a:solidFill>
                  <a:srgbClr val="0A0810"/>
                </a:solidFill>
                <a:latin typeface="Georgia"/>
              </a:rPr>
              <a:t>Une société pensée</a:t>
            </a:r>
          </a:p>
          <a:p>
            <a:pPr>
              <a:lnSpc>
                <a:spcPct val="105000"/>
              </a:lnSpc>
            </a:pPr>
            <a:r>
              <a:rPr sz="3200" i="1">
                <a:solidFill>
                  <a:srgbClr val="0A0810"/>
                </a:solidFill>
                <a:latin typeface="Georgia"/>
              </a:rPr>
              <a:t>pour fédérer les partenaires.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4612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46120"/>
            <a:ext cx="3657600" cy="73152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JURIDIQUE ET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0810"/>
                </a:solidFill>
                <a:latin typeface="Georgia"/>
              </a:rPr>
              <a:t>SAS « INDIE.CO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040"/>
                </a:solidFill>
                <a:latin typeface="Calibri"/>
              </a:rPr>
              <a:t>La SASU existante est prête à être transformée en SAS « INDIE.CO ». Capital variable, objectif 500 000 € rapidement. Actionnariat social, nominal 1 €.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Europe · Amériques · Asie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4612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246120"/>
            <a:ext cx="3657600" cy="73152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474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5D2F"/>
                </a:solidFill>
                <a:latin typeface="Consolas"/>
              </a:rPr>
              <a:t>MODÈLE DE DROITS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7947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0810"/>
                </a:solidFill>
                <a:latin typeface="Georgia"/>
              </a:rPr>
              <a:t>Droits d'auteur en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61772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040"/>
                </a:solidFill>
                <a:latin typeface="Calibri"/>
              </a:rPr>
              <a:t>Scénaristes, réalisateurs et ayants droit deviennent partenaires. Cette clause permet de constituer rapidement un catalogue tout en alignant les intérêts.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080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5D2F"/>
                </a:solidFill>
                <a:latin typeface="Consolas"/>
              </a:rPr>
              <a:t>« Emmagasiner du marbre 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24612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3246120"/>
            <a:ext cx="3657600" cy="73152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474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IMPLANTATION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947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0810"/>
                </a:solidFill>
                <a:latin typeface="Georgia"/>
              </a:rPr>
              <a:t>Paris &amp; États-Unis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1772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040"/>
                </a:solidFill>
                <a:latin typeface="Calibri"/>
              </a:rPr>
              <a:t>Paris comme centre initial, pôle technique aux États-Unis (NY ou LA), société de production de longs métrages adossée à la chaîne.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080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Paris · New York · Los Angeles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A623"/>
                </a:solidFill>
                <a:latin typeface="Consolas"/>
              </a:rPr>
              <a:t>08 — LES FEMMES ET LES HOMMES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600">
                <a:solidFill>
                  <a:srgbClr val="FFFFFF"/>
                </a:solidFill>
                <a:latin typeface="Georgia"/>
              </a:rPr>
              <a:t>Un média porté</a:t>
            </a:r>
          </a:p>
          <a:p>
            <a:pPr>
              <a:lnSpc>
                <a:spcPct val="105000"/>
              </a:lnSpc>
            </a:pPr>
            <a:r>
              <a:rPr sz="3600" i="1">
                <a:solidFill>
                  <a:srgbClr val="FFFFFF"/>
                </a:solidFill>
                <a:latin typeface="Georgia"/>
              </a:rPr>
              <a:t>par des regards.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C5C0B8"/>
                </a:solidFill>
                <a:latin typeface="Calibri"/>
              </a:rPr>
              <a:t>INDIE.CO est d'abord une aventure humaine : des auteurs, des artistes, des scientifiques, des techniciens — et une éthique éditoriale incarnée.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5486400" cy="1737360"/>
          </a:xfrm>
          <a:prstGeom prst="roundRect">
            <a:avLst>
              <a:gd name="adj" fmla="val 8000"/>
            </a:avLst>
          </a:prstGeom>
          <a:solidFill>
            <a:srgbClr val="1A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73152" cy="17373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CRÉER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002FA7"/>
                </a:solidFill>
                <a:latin typeface="Calibri"/>
              </a:rPr>
              <a:t>•  </a:t>
            </a:r>
            <a:r>
              <a:rPr sz="1000">
                <a:solidFill>
                  <a:srgbClr val="D5D0C8"/>
                </a:solidFill>
                <a:latin typeface="Calibri"/>
              </a:rPr>
              <a:t>Direction éditoriale et artistique garante de la ligne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002FA7"/>
                </a:solidFill>
                <a:latin typeface="Calibri"/>
              </a:rPr>
              <a:t>•  </a:t>
            </a:r>
            <a:r>
              <a:rPr sz="1000">
                <a:solidFill>
                  <a:srgbClr val="D5D0C8"/>
                </a:solidFill>
                <a:latin typeface="Calibri"/>
              </a:rPr>
              <a:t>Réseau international de coproducteurs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002FA7"/>
                </a:solidFill>
                <a:latin typeface="Calibri"/>
              </a:rPr>
              <a:t>•  </a:t>
            </a:r>
            <a:r>
              <a:rPr sz="1000">
                <a:solidFill>
                  <a:srgbClr val="D5D0C8"/>
                </a:solidFill>
                <a:latin typeface="Calibri"/>
              </a:rPr>
              <a:t>Jeunes créateurs révélés par des concours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429000"/>
            <a:ext cx="5486400" cy="1737360"/>
          </a:xfrm>
          <a:prstGeom prst="roundRect">
            <a:avLst>
              <a:gd name="adj" fmla="val 8000"/>
            </a:avLst>
          </a:prstGeom>
          <a:solidFill>
            <a:srgbClr val="1A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3429000"/>
            <a:ext cx="73152" cy="173736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566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5D2F"/>
                </a:solidFill>
                <a:latin typeface="Consolas"/>
              </a:rPr>
              <a:t>FAIRE VIVRE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E85D2F"/>
                </a:solidFill>
                <a:latin typeface="Calibri"/>
              </a:rPr>
              <a:t>•  </a:t>
            </a:r>
            <a:r>
              <a:rPr sz="1000">
                <a:solidFill>
                  <a:srgbClr val="D5D0C8"/>
                </a:solidFill>
                <a:latin typeface="Calibri"/>
              </a:rPr>
              <a:t>Pôle technique et plateforme (diffusion, middleware, IA)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E85D2F"/>
                </a:solidFill>
                <a:latin typeface="Calibri"/>
              </a:rPr>
              <a:t>•  </a:t>
            </a:r>
            <a:r>
              <a:rPr sz="1000">
                <a:solidFill>
                  <a:srgbClr val="D5D0C8"/>
                </a:solidFill>
                <a:latin typeface="Calibri"/>
              </a:rPr>
              <a:t>Régie publicitaire et partenariats</a:t>
            </a:r>
          </a:p>
          <a:p>
            <a:pPr>
              <a:lnSpc>
                <a:spcPct val="135000"/>
              </a:lnSpc>
              <a:spcAft>
                <a:spcPts val="120"/>
              </a:spcAft>
            </a:pPr>
            <a:r>
              <a:rPr sz="1000" b="1">
                <a:solidFill>
                  <a:srgbClr val="E85D2F"/>
                </a:solidFill>
                <a:latin typeface="Calibri"/>
              </a:rPr>
              <a:t>•  </a:t>
            </a:r>
            <a:r>
              <a:rPr sz="1000">
                <a:solidFill>
                  <a:srgbClr val="D5D0C8"/>
                </a:solidFill>
                <a:latin typeface="Calibri"/>
              </a:rPr>
              <a:t>Modérateurs éthiques omniprésents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2194560" cy="1325880"/>
          </a:xfrm>
          <a:prstGeom prst="roundRect">
            <a:avLst>
              <a:gd name="adj" fmla="val 8000"/>
            </a:avLst>
          </a:prstGeom>
          <a:solidFill>
            <a:srgbClr val="1F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A623"/>
                </a:solidFill>
                <a:latin typeface="Georgia"/>
              </a:rPr>
              <a:t>Créateurs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Réalisateurs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Producteurs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Artistes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Auteurs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5349240"/>
            <a:ext cx="2194560" cy="1325880"/>
          </a:xfrm>
          <a:prstGeom prst="roundRect">
            <a:avLst>
              <a:gd name="adj" fmla="val 8000"/>
            </a:avLst>
          </a:prstGeom>
          <a:solidFill>
            <a:srgbClr val="1F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A623"/>
                </a:solidFill>
                <a:latin typeface="Georgia"/>
              </a:rPr>
              <a:t>Experts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806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Chercheurs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Scientifiques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Intellectuels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Journalistes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5349240"/>
            <a:ext cx="2194560" cy="1325880"/>
          </a:xfrm>
          <a:prstGeom prst="roundRect">
            <a:avLst>
              <a:gd name="adj" fmla="val 8000"/>
            </a:avLst>
          </a:prstGeom>
          <a:solidFill>
            <a:srgbClr val="1F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A623"/>
                </a:solidFill>
                <a:latin typeface="Georgia"/>
              </a:rPr>
              <a:t>Technologie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806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Ingénieurs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Développeurs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IA &amp; données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5349240"/>
            <a:ext cx="2194560" cy="1325880"/>
          </a:xfrm>
          <a:prstGeom prst="roundRect">
            <a:avLst>
              <a:gd name="adj" fmla="val 8000"/>
            </a:avLst>
          </a:prstGeom>
          <a:solidFill>
            <a:srgbClr val="1F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A623"/>
                </a:solidFill>
                <a:latin typeface="Georgia"/>
              </a:rPr>
              <a:t>Média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806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Programmation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Production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Distribution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5349240"/>
            <a:ext cx="2194560" cy="1325880"/>
          </a:xfrm>
          <a:prstGeom prst="roundRect">
            <a:avLst>
              <a:gd name="adj" fmla="val 8000"/>
            </a:avLst>
          </a:prstGeom>
          <a:solidFill>
            <a:srgbClr val="1F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A623"/>
                </a:solidFill>
                <a:latin typeface="Georgia"/>
              </a:rPr>
              <a:t>Partenaires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806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Institutions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Fondations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Marques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C5C0B8"/>
                </a:solidFill>
                <a:latin typeface="Calibri"/>
              </a:rPr>
              <a:t>Universités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09 — BUDGET INITIAL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600">
                <a:solidFill>
                  <a:srgbClr val="0A0810"/>
                </a:solidFill>
                <a:latin typeface="Georgia"/>
              </a:rPr>
              <a:t>Année 1 : </a:t>
            </a:r>
            <a:r>
              <a:rPr sz="3600" i="1" b="1">
                <a:solidFill>
                  <a:srgbClr val="002FA7"/>
                </a:solidFill>
                <a:latin typeface="Georgia"/>
              </a:rPr>
              <a:t>51,5 M€ 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3040"/>
                </a:solidFill>
                <a:latin typeface="Calibri"/>
              </a:rPr>
              <a:t>Un investissement de lancement couvert par une augmentation de capital de 51 M€ : 18,9 M€ d'investissements (CAPEX) et 32,6 M€ de charges d'exploitation.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5A623"/>
                </a:solidFill>
                <a:latin typeface="Consolas"/>
              </a:rPr>
              <a:t>BESOIN DE FINANCEMENT · ANNÉE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51,5 M€ 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0DBC5"/>
                </a:solidFill>
                <a:latin typeface="Calibri"/>
              </a:rPr>
              <a:t>CAPEX + charges d'exploitation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383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A0810"/>
                </a:solidFill>
                <a:latin typeface="Calibri"/>
              </a:rPr>
              <a:t>Charges semi-variables (acquisitions audio &amp; commercial)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199" y="3474720"/>
            <a:ext cx="1645920" cy="137160"/>
          </a:xfrm>
          <a:prstGeom prst="rect">
            <a:avLst/>
          </a:prstGeom>
          <a:solidFill>
            <a:srgbClr val="F5E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199" y="3474720"/>
            <a:ext cx="1645920" cy="1371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0" y="338328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16.9 M€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749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A0810"/>
                </a:solidFill>
                <a:latin typeface="Calibri"/>
              </a:rPr>
              <a:t>Charges fixes d'exploitation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199" y="3840480"/>
            <a:ext cx="1645920" cy="137160"/>
          </a:xfrm>
          <a:prstGeom prst="rect">
            <a:avLst/>
          </a:prstGeom>
          <a:solidFill>
            <a:srgbClr val="F5E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199" y="3840480"/>
            <a:ext cx="1300276" cy="1371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0" y="37490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13.3 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114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A0810"/>
                </a:solidFill>
                <a:latin typeface="Calibri"/>
              </a:rPr>
              <a:t>CAPEX matériel (tangible)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199" y="4206240"/>
            <a:ext cx="1645920" cy="137160"/>
          </a:xfrm>
          <a:prstGeom prst="rect">
            <a:avLst/>
          </a:prstGeom>
          <a:solidFill>
            <a:srgbClr val="F5E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199" y="4206240"/>
            <a:ext cx="1036929" cy="1371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41148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10.6 M€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4805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A0810"/>
                </a:solidFill>
                <a:latin typeface="Calibri"/>
              </a:rPr>
              <a:t>CAPEX incorporel (droits, logiciels)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199" y="4572000"/>
            <a:ext cx="1645920" cy="137160"/>
          </a:xfrm>
          <a:prstGeom prst="rect">
            <a:avLst/>
          </a:prstGeom>
          <a:solidFill>
            <a:srgbClr val="F5E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199" y="4572000"/>
            <a:ext cx="806500" cy="1371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0" y="448056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8.2 M€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8463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A0810"/>
                </a:solidFill>
                <a:latin typeface="Calibri"/>
              </a:rPr>
              <a:t>Salaires &amp; charges sociales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199" y="4937760"/>
            <a:ext cx="1645920" cy="137160"/>
          </a:xfrm>
          <a:prstGeom prst="rect">
            <a:avLst/>
          </a:prstGeom>
          <a:solidFill>
            <a:srgbClr val="F5E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199" y="4937760"/>
            <a:ext cx="230428" cy="1371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0" y="484632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2.4 M€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5212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A0810"/>
                </a:solidFill>
                <a:latin typeface="Calibri"/>
              </a:rPr>
              <a:t>Charges variables (taxes CA)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199" y="5303520"/>
            <a:ext cx="1645920" cy="137160"/>
          </a:xfrm>
          <a:prstGeom prst="rect">
            <a:avLst/>
          </a:prstGeom>
          <a:solidFill>
            <a:srgbClr val="F5E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199" y="5303520"/>
            <a:ext cx="16459" cy="1371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38560" y="521208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0.1 M€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4864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623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5D2F"/>
                </a:solidFill>
                <a:latin typeface="Consolas"/>
              </a:rPr>
              <a:t>FREE CASH FLOW · ANNÉE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43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85D2F"/>
                </a:solidFill>
                <a:latin typeface="Georgia"/>
              </a:rPr>
              <a:t>−31,8 M€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80644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040"/>
                </a:solidFill>
                <a:latin typeface="Calibri"/>
              </a:rPr>
              <a:t>EBITDA : −31,8 M€   ·   EBIT : −33,3 M€   ·   Trésorerie fin d'année : 0,4 M€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10 — PRÉVISIONNEL FINANCIER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200" b="0">
                <a:solidFill>
                  <a:srgbClr val="0A0810"/>
                </a:solidFill>
                <a:latin typeface="Georgia"/>
              </a:rPr>
              <a:t>Une trajectoire</a:t>
            </a:r>
          </a:p>
          <a:p>
            <a:pPr>
              <a:lnSpc>
                <a:spcPct val="105000"/>
              </a:lnSpc>
            </a:pPr>
            <a:r>
              <a:rPr sz="3200" i="1">
                <a:solidFill>
                  <a:srgbClr val="0A0810"/>
                </a:solidFill>
                <a:latin typeface="Georgia"/>
              </a:rPr>
              <a:t>exponentielle sur 5 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5303520" cy="3108960"/>
          </a:xfrm>
          <a:prstGeom prst="roundRect">
            <a:avLst>
              <a:gd name="adj" fmla="val 8000"/>
            </a:avLst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A623"/>
                </a:solidFill>
                <a:latin typeface="Consolas"/>
              </a:rPr>
              <a:t>CHIFFRE D'AFFAIRES CUMULÉ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Georgia"/>
              </a:rPr>
              <a:t>1,86 Md€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0DBC5"/>
                </a:solidFill>
                <a:latin typeface="Calibri"/>
              </a:rPr>
              <a:t>Sur 5 années d'exploitation (2026 — 2030)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D5D0C5"/>
                </a:solidFill>
                <a:latin typeface="Calibri"/>
              </a:rPr>
              <a:t>Abonnés TV Année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52120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</a:rPr>
              <a:t>10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949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D5D0C5"/>
                </a:solidFill>
                <a:latin typeface="Calibri"/>
              </a:rPr>
              <a:t>Point d'équilibre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39496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</a:rPr>
              <a:t>Année 3 (+25,6 M€)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7784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D5D0C5"/>
                </a:solidFill>
                <a:latin typeface="Calibri"/>
              </a:rPr>
              <a:t>EBIT Année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557784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</a:rPr>
              <a:t>1 068 M€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607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D5D0C5"/>
                </a:solidFill>
                <a:latin typeface="Calibri"/>
              </a:rPr>
              <a:t>Trésorerie Année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7607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onsolas"/>
              </a:rPr>
              <a:t>1 242 M€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834640"/>
            <a:ext cx="1115568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9718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02FA7"/>
                </a:solidFill>
                <a:latin typeface="Consolas"/>
              </a:rPr>
              <a:t>Année 1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91840"/>
            <a:ext cx="9326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0A0810"/>
                </a:solidFill>
                <a:latin typeface="Calibri"/>
              </a:rPr>
              <a:t>10 000 abonnés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611880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810"/>
                </a:solidFill>
                <a:latin typeface="Georgia"/>
              </a:rPr>
              <a:t>834 k€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96328" y="2834640"/>
            <a:ext cx="1115568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29718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02FA7"/>
                </a:solidFill>
                <a:latin typeface="Consolas"/>
              </a:rPr>
              <a:t>Année 2 ·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3291840"/>
            <a:ext cx="9326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0A0810"/>
                </a:solidFill>
                <a:latin typeface="Calibri"/>
              </a:rPr>
              <a:t>150 000 abonnés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3611880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810"/>
                </a:solidFill>
                <a:latin typeface="Georgia"/>
              </a:rPr>
              <a:t>13,3 M€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57616" y="2834640"/>
            <a:ext cx="1115568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29718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02FA7"/>
                </a:solidFill>
                <a:latin typeface="Consolas"/>
              </a:rPr>
              <a:t>Année 3 · 2028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3291840"/>
            <a:ext cx="9326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0A0810"/>
                </a:solidFill>
                <a:latin typeface="Calibri"/>
              </a:rPr>
              <a:t>1 M abonnés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611880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810"/>
                </a:solidFill>
                <a:latin typeface="Georgia"/>
              </a:rPr>
              <a:t>95,9 M€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18904" y="2834640"/>
            <a:ext cx="1115568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0344" y="29718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02FA7"/>
                </a:solidFill>
                <a:latin typeface="Consolas"/>
              </a:rPr>
              <a:t>Année 4 · 2029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3291840"/>
            <a:ext cx="9326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0A0810"/>
                </a:solidFill>
                <a:latin typeface="Calibri"/>
              </a:rPr>
              <a:t>5 M abonnés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3611880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810"/>
                </a:solidFill>
                <a:latin typeface="Georgia"/>
              </a:rPr>
              <a:t>500,4 M€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80192" y="2834640"/>
            <a:ext cx="1115568" cy="1280160"/>
          </a:xfrm>
          <a:prstGeom prst="roundRect">
            <a:avLst>
              <a:gd name="adj" fmla="val 8000"/>
            </a:avLst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71632" y="29718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5A623"/>
                </a:solidFill>
                <a:latin typeface="Consolas"/>
              </a:rPr>
              <a:t>Année 5 · 2030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3291840"/>
            <a:ext cx="9326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10 M abonnés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71632" y="3611880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1 251 M€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3434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CINQ SOURCES DE REVENUS · VENTILATION ANNÉE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70916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810"/>
                </a:solidFill>
                <a:latin typeface="Calibri"/>
              </a:rPr>
              <a:t>Abonnements TV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47091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1 125 M€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00176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810"/>
                </a:solidFill>
                <a:latin typeface="Calibri"/>
              </a:rPr>
              <a:t>Œuvres d'art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50017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90 M€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29437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810"/>
                </a:solidFill>
                <a:latin typeface="Calibri"/>
              </a:rPr>
              <a:t>Publicité audiovisuelle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529437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22,5 M€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586984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810"/>
                </a:solidFill>
                <a:latin typeface="Calibri"/>
              </a:rPr>
              <a:t>Publicité display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558698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7,5 M€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8795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810"/>
                </a:solidFill>
                <a:latin typeface="Calibri"/>
              </a:rPr>
              <a:t>VOD/SVOD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58795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6 M€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</a:rPr>
              <a:t>11 —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>
                <a:solidFill>
                  <a:srgbClr val="0A0810"/>
                </a:solidFill>
                <a:latin typeface="Georgia"/>
              </a:rPr>
              <a:t>L'équipe</a:t>
            </a:r>
          </a:p>
          <a:p>
            <a:pPr algn="ctr">
              <a:lnSpc>
                <a:spcPct val="105000"/>
              </a:lnSpc>
            </a:pPr>
            <a:r>
              <a:rPr sz="4000" i="1">
                <a:solidFill>
                  <a:srgbClr val="0A0810"/>
                </a:solidFill>
                <a:latin typeface="Georgia"/>
              </a:rPr>
              <a:t>fondatrice.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1752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xavier-lelo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91840"/>
            <a:ext cx="1828800" cy="2194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3246120"/>
            <a:ext cx="1920240" cy="54864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2918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A0810"/>
                </a:solidFill>
                <a:latin typeface="Georgia"/>
              </a:rPr>
              <a:t>Xavier Lelong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947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FA7"/>
                </a:solidFill>
                <a:latin typeface="Consolas"/>
              </a:rPr>
              <a:t>PRÉSIDENT-DIRECTEUR GÉNÉRAL · FONDATEUR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434840"/>
            <a:ext cx="29260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900" b="1">
                <a:solidFill>
                  <a:srgbClr val="002FA7"/>
                </a:solidFill>
                <a:latin typeface="Calibri"/>
              </a:rPr>
              <a:t>•  </a:t>
            </a:r>
            <a:r>
              <a:rPr sz="900">
                <a:solidFill>
                  <a:srgbClr val="333040"/>
                </a:solidFill>
                <a:latin typeface="Calibri"/>
              </a:rPr>
              <a:t>Beaux-Arts d'Orléans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900" b="1">
                <a:solidFill>
                  <a:srgbClr val="002FA7"/>
                </a:solidFill>
                <a:latin typeface="Calibri"/>
              </a:rPr>
              <a:t>•  </a:t>
            </a:r>
            <a:r>
              <a:rPr sz="900">
                <a:solidFill>
                  <a:srgbClr val="333040"/>
                </a:solidFill>
                <a:latin typeface="Calibri"/>
              </a:rPr>
              <a:t>École de cinéma de Paris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900" b="1">
                <a:solidFill>
                  <a:srgbClr val="002FA7"/>
                </a:solidFill>
                <a:latin typeface="Calibri"/>
              </a:rPr>
              <a:t>•  </a:t>
            </a:r>
            <a:r>
              <a:rPr sz="900">
                <a:solidFill>
                  <a:srgbClr val="333040"/>
                </a:solidFill>
                <a:latin typeface="Calibri"/>
              </a:rPr>
              <a:t>Producteur exécutif — cinéma, TV, pub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900" b="1">
                <a:solidFill>
                  <a:srgbClr val="002FA7"/>
                </a:solidFill>
                <a:latin typeface="Calibri"/>
              </a:rPr>
              <a:t>•  </a:t>
            </a:r>
            <a:r>
              <a:rPr sz="900">
                <a:solidFill>
                  <a:srgbClr val="333040"/>
                </a:solidFill>
                <a:latin typeface="Calibri"/>
              </a:rPr>
              <a:t>Partenaire d'Images TV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900" b="1">
                <a:solidFill>
                  <a:srgbClr val="002FA7"/>
                </a:solidFill>
                <a:latin typeface="Calibri"/>
              </a:rPr>
              <a:t>•  </a:t>
            </a:r>
            <a:r>
              <a:rPr sz="900">
                <a:solidFill>
                  <a:srgbClr val="333040"/>
                </a:solidFill>
                <a:latin typeface="Calibri"/>
              </a:rPr>
              <a:t>Réalisateur télévision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01752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fondatr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291840"/>
            <a:ext cx="1828800" cy="2194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29400" y="3246120"/>
            <a:ext cx="1920240" cy="54864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A0810"/>
                </a:solidFill>
                <a:latin typeface="Georgia"/>
              </a:rPr>
              <a:t>Lisa Silve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7947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85D2F"/>
                </a:solidFill>
                <a:latin typeface="Consolas"/>
              </a:rPr>
              <a:t>CO-PRODUCTRICE EXÉCUTIVE · ASSISTANTE DE LA DG MARIA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434840"/>
            <a:ext cx="29260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900" b="1">
                <a:solidFill>
                  <a:srgbClr val="E85D2F"/>
                </a:solidFill>
                <a:latin typeface="Calibri"/>
              </a:rPr>
              <a:t>•  </a:t>
            </a:r>
            <a:r>
              <a:rPr sz="900">
                <a:solidFill>
                  <a:srgbClr val="333040"/>
                </a:solidFill>
                <a:latin typeface="Calibri"/>
              </a:rPr>
              <a:t>Éco-systèmes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900" b="1">
                <a:solidFill>
                  <a:srgbClr val="E85D2F"/>
                </a:solidFill>
                <a:latin typeface="Calibri"/>
              </a:rPr>
              <a:t>•  </a:t>
            </a:r>
            <a:r>
              <a:rPr sz="900">
                <a:solidFill>
                  <a:srgbClr val="333040"/>
                </a:solidFill>
                <a:latin typeface="Calibri"/>
              </a:rPr>
              <a:t>Éco-féminisme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900" b="1">
                <a:solidFill>
                  <a:srgbClr val="E85D2F"/>
                </a:solidFill>
                <a:latin typeface="Calibri"/>
              </a:rPr>
              <a:t>•  </a:t>
            </a:r>
            <a:r>
              <a:rPr sz="900">
                <a:solidFill>
                  <a:srgbClr val="333040"/>
                </a:solidFill>
                <a:latin typeface="Calibri"/>
              </a:rPr>
              <a:t>Médecines alternatives</a:t>
            </a:r>
          </a:p>
          <a:p>
            <a:pPr>
              <a:lnSpc>
                <a:spcPct val="135000"/>
              </a:lnSpc>
              <a:spcAft>
                <a:spcPts val="80"/>
              </a:spcAft>
            </a:pPr>
            <a:r>
              <a:rPr sz="900" b="1">
                <a:solidFill>
                  <a:srgbClr val="E85D2F"/>
                </a:solidFill>
                <a:latin typeface="Calibri"/>
              </a:rPr>
              <a:t>•  </a:t>
            </a:r>
            <a:r>
              <a:rPr sz="900">
                <a:solidFill>
                  <a:srgbClr val="333040"/>
                </a:solidFill>
                <a:latin typeface="Calibri"/>
              </a:rPr>
              <a:t>Sétoise d'origine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0"/>
            <a:ext cx="45720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146304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2468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2FA7"/>
                </a:solidFill>
                <a:latin typeface="Consolas"/>
              </a:rPr>
              <a:t>INDIE.CO · IP 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92608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0" i="1">
                <a:solidFill>
                  <a:srgbClr val="0A0810"/>
                </a:solidFill>
                <a:latin typeface="Georgia"/>
              </a:rPr>
              <a:t>Merci.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754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XAVIER LELONG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7548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A0810"/>
                </a:solidFill>
                <a:latin typeface="Georgia"/>
              </a:rPr>
              <a:t>Président-directeur général · Fondateur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5166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COURRIEL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51663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A0810"/>
                </a:solidFill>
                <a:latin typeface="Georgia"/>
              </a:rPr>
              <a:t>indieco34@gmail.com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57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02FA7"/>
                </a:solidFill>
                <a:latin typeface="Consolas"/>
              </a:rPr>
              <a:t>TÉLÉPHONE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577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A0810"/>
                </a:solidFill>
                <a:latin typeface="Georgia"/>
              </a:rPr>
              <a:t>+33 6 28 13 72 87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1722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333040"/>
                </a:solidFill>
                <a:latin typeface="Georgia"/>
              </a:rPr>
              <a:t>La télévision culturelle mondiale.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A623"/>
                </a:solidFill>
                <a:latin typeface="Consolas"/>
              </a:rPr>
              <a:t>12 — 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5EDD8"/>
                </a:solidFill>
                <a:latin typeface="Consolas"/>
              </a:rPr>
              <a:t>© 2026 Xavier Lelong pour INDIE.CO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